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본문" id="{92e26287-bc8b-c21e-f047-cd29e31774b1}">
          <p14:sldIdLst>
            <p14:sldId id="256"/>
            <p14:sldId id="257"/>
          </p14:sldIdLst>
        </p14:section>
        <p14:section name="실습 원칙" id="{2d46f706-d658-666f-69f1-ebac1ba6c985}">
          <p14:sldIdLst>
            <p14:sldId id="258"/>
            <p14:sldId id="259"/>
          </p14:sldIdLst>
        </p14:section>
        <p14:section name="임베딩 검색" id="{92d3a7d6-d65f-c079-bd8a-4b1bbf12a273}">
          <p14:sldIdLst>
            <p14:sldId id="260"/>
            <p14:sldId id="261"/>
            <p14:sldId id="262"/>
            <p14:sldId id="263"/>
          </p14:sldIdLst>
        </p14:section>
        <p14:section name="미세조정" id="{8553fa82-cbf2-dab3-0107-c5784db97322}">
          <p14:sldIdLst>
            <p14:sldId id="264"/>
            <p14:sldId id="265"/>
          </p14:sldIdLst>
        </p14:section>
        <p14:section name="웹캠" id="{43b3ba06-fba4-0633-1c62-86bd54d649de}">
          <p14:sldIdLst>
            <p14:sldId id="266"/>
            <p14:sldId id="267"/>
            <p14:sldId id="268"/>
            <p14:sldId id="269"/>
          </p14:sldIdLst>
        </p14:section>
        <p14:section name="카메라 2대" id="{66855842-42f2-b3da-3c63-8dbff8a6bc1e}">
          <p14:sldIdLst>
            <p14:sldId id="270"/>
            <p14:sldId id="271"/>
            <p14:sldId id="272"/>
            <p14:sldId id="273"/>
            <p14:sldId id="274"/>
          </p14:sldIdLst>
        </p14:section>
        <p14:section name="예비 (질문이 나오면)" id="{37d2f906-13da-cce9-e5b3-ccc808dbb30e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3D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3D3A"/>
                </a:solidFill>
                <a:latin typeface="+mn-lt"/>
              </a:rPr>
              <a:t>구성별 지연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지연 ms</c:v>
                </c:pt>
              </c:strCache>
            </c:strRef>
          </c:tx>
          <c:spPr>
            <a:solidFill>
              <a:srgbClr val="14141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78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141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텍스트 (질의 2개)</c:v>
                  </c:pt>
                  <c:pt idx="1">
                    <c:v>+오디오 (WAV 3개)</c:v>
                  </c:pt>
                  <c:pt idx="2">
                    <c:v>+비전 (이미지 5장)</c:v>
                  </c:pt>
                  <c:pt idx="3">
                    <c:v>전체 (혼합)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</c:v>
                </c:pt>
                <c:pt idx="1">
                  <c:v>638</c:v>
                </c:pt>
                <c:pt idx="2">
                  <c:v>2302</c:v>
                </c:pt>
                <c:pt idx="3">
                  <c:v>3166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3D3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A64"/>
                </a:solidFill>
                <a:latin typeface="+mn-lt"/>
              </a:defRPr>
            </a:pPr>
            <a:endParaRPr lang="en-US"/>
          </a:p>
        </c:txPr>
        <c:crossAx val="2094734554"/>
        <c:crosses val="max"/>
        <c:crossBetween val="between"/>
      </c:valAx>
      <c:spPr>
        <a:solidFill>
          <a:srgbClr val="FAF9F5"/>
        </a:solidFill>
        <a:ln>
          <a:noFill/>
        </a:ln>
        <a:effectLst/>
      </c:spPr>
    </c:plotArea>
    <c:plotVisOnly val="1"/>
    <c:dispBlanksAs val="span"/>
  </c:chart>
  <c:spPr>
    <a:solidFill>
      <a:srgbClr val="FAF9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Jetson Orin Nano Super 8GB 보드 한 대에서 EmbeddingGemma 2로 텍스트 검색부터 카메라 두 대 접근 감지까지 10단계를 했습니다. 오늘은 단계별로 무엇이 됐고 무엇이 안 됐는지, 그리고 안 된 이유를 숫자로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전체 결과입니다. 1단계부터 6단계까지는 통과했고, 7단계부터 10단계는 미통과입니다. 다만 미통과도 기준 하나나 두 개가 모자란 것이고, 각 단계에서 원인을 찾아 기록했습니다. 4단계와 5단계는 처음에 미통과였다가 원인을 고쳐 통과한 경우입니다.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이야기 전에, 이 실습을 어떤 규칙으로 했는지부터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보드 A에는 다른 과제의 공기 측정 서비스가 24시간 돌고 있었습니다. 그래서 실습 앱은 항상 메모리 제한을 건 스크립트로만 켰고, 남은 메모리가 3기가 아래면 아예 켜지 않았습니다. 학습은 모두 맥에서 했습니다. 그리고 미통과가 나오면 기준을 바꾸지 않고, 원인을 적은 다음 자료나 배치만 바꿔서 다시 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단계별 결과입니다. 먼저 3단계부터 6단계, 임베딩으로 검색하는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3단계는 한국어 문장 검색입니다. 졸리다는 질문에는 환기 부족, 즉 CO2 문장이, 덥다는 질문에는 에어컨 문장이 1위로 나와야 합니다. 768차원에서도, 6분의 1인 128차원에서도 1위가 같았습니다. 저장 공간과 비교 계산을 줄여도 된다는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4단계와 5단계는 처음에 미통과였습니다. 5단계는 목소리를 찾는 질문이 잡음 파일에 0.008 차이로 졌는데, 원인은 합성 음성이 사람 목소리처럼 들리지 않아서였습니다. 그래서 웹캠 마이크로 제 목소리를 녹음해 바꿨고 6칸 모두 맞았습니다. 두 단계 모두 질문과 정답, 코드는 손대지 않고 자료만 바꿨습니다.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6단계는 성능 측정입니다. 텍스트만 쓰면 질의 두 개에 154밀리초인데, 이미지 다섯 장을 넣으면 2.3초로 15배가 됩니다. GPU 사용률도 10퍼센트에서 82퍼센트로 올라갔습니다. 전체 모델을 올렸을 때 남은 메모리가 1.7기가까지 내려갔지만 멈추지는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7단계 미세조정입니다.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강의실 질문과 문서 쌍으로 텍스트 모델을 더 학습시켰습니다. 강의실 질문에서는 1위 정답률과 ndcg가 모두 올랐습니다. 그런데 3단계의 일반 질문 하나가 128차원에서 0.001 차이로 뒤집혔습니다. 맥에서는 통과였지만 실제로 쓸 보드 기준으로 미통과라고 적었습니다. 평가용 60문제는 학습에도 설정 고르기에도 쓰지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웹캠을 쓰는 8단계와 9단계입니다.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8단계 실제 화면입니다. YOLO가 물체마다 박스를 치고, 잘라 낸 사진을 EmbeddingGemma 2로 벡터로 바꿔 둡니다. 그러면 키보드나 세탁기처럼 글로 검색할 수 있습니다. 아래쪽을 보면 세탁기 사진을 YOLO는 휴대폰이라고 잘못 부르는데, 이런 COCO 밖 물체를 고치는 게 이 단계의 과제였습니다.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모드 모두 12프레임 정도로 기준인 10을 넘었습니다. YOLO 이름이 틀린 물체가 relabel이나 YOLOE에서 맞는 이름이 되는 것도 확인했습니다. 미통과 이유는 하나, 원통형 전지 포장 실물을 구하지 못해 표 한 줄이 비었기 때문입니다. 세 번 시도했고, 4차는 하지 않기로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9단계는 관절 좌표로 사람 동작을 알아보는 단계입니다. 만세나 손 흔들기는 규칙으로 됐고, 규칙으로 적기 어려운 박수와 팔짱은 맥에서 작은 GRU를 학습시켜 알아봤습니다. 행동 모델은 천천히 다시 녹화한 3차에서 9번 중 7번 맞았습니다. 미통과는 규칙 기반 행동 패턴이 12번 중 4번이었던 것, 그리고 처음 본 사람으로 평가할 참여자가 없었던 것입니다. 녹화한 관절 기록은 끝나고 지웠습니다.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10단계입니다. 카메라 두 대로 사람이 물체에 다가가는지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10단계 핵심 표입니다. 서 있을 때는 발목 방식도 잘 맞습니다. 그런데 책상에 앉으면 발목이 가려져 거리가 0.64미터 틀리고 추적 번호도 끊깁니다. 두 카메라로 어깨를 삼각측량하면 0.14미터만 틀렸습니다. 원문이 보여 주려던 개선이 그대로 나왔습니다. 대신 한 카메라에만 보이는 곳에서는 사람이 사라지거나, 보완 방식의 추정이 1미터 넘게 빗나갔습니다.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타겟은 갈색 상자로 정하고, 위치를 직접 입력하지 않고 글로 찾게 했습니다. YOLOE가 후보를 내고 EmbeddingGemma 2가 그중 글과 가장 닮은 것을 골랐습니다. 알람 시나리오 다섯 개는 모두 세 번 중 세 번 맞았습니다. 다만 사람이 몸을 돌리거나 앉을 때 1초 미만의 가짜 추적 번호가 생겨 불필요한 알람이 나는 문제가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10단계 미통과 이유는 세 가지입니다. 카메라 위치 보정의 화면 오차가 세 번 모두 3픽셀을 조금 넘었고, 타겟 위치가 30센티미터 기준을 1센티미터 넘었고, 책상 뒤에 서는 줄은 교실 구조상 못 했습니다. 공통 원인은 배치입니다. 카메라가 원문보다 낮고, 두 시선의 각도가 좁았습니다. 다시 한다면 원문대로 2.2미터 이상, 60도 이상으로 달고 테이프 십자로 기준점을 표시하겠습니다.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임베딩 검색은 작은 차원으로도 잘 됐고, 미통과는 기준을 바꾸지 않고 원인을 고쳐 다시 재는 방식으로 다뤘습니다. 8기가 보드를 다른 서비스와 나눠 쓰면서도 그 서비스를 한 번도 멈추지 않았습니다. 마지막 10단계는 알람 자체는 잘 됐고, 배치를 원문대로 하면 남은 기준도 맞출 수 있을 것으로 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나오면: 위치 보정은 세 번 했고, 매번 위치와 검증점은 목표 안이었지만 화면 오차만 3픽셀을 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나오면: 상자를 사람이 들고 다가오게 해서 충돌 예상 시간 알람을 봤습니다. 천천히는 3초, 보통은 1초 먼저 울렸고, 빠를수록 이득이 줄었습니다.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14884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6908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-넓게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011680"/>
            <a:ext cx="10890504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23360"/>
            <a:ext cx="1089050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1089050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A09D9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15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21488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8GB 보드 하나로 검색부터 접근 감지까지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9224" y="4069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EmbeddingGemma 2 실습 10단계 결과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2026-10-28 · 팀5 이재웅</a:t>
            </a:r>
            <a:endParaRPr lang="en-US" sz="1400" dirty="0"/>
          </a:p>
        </p:txBody>
      </p:sp>
      <p:sp>
        <p:nvSpPr>
          <p:cNvPr id="5" name="code-window"/>
          <p:cNvSpPr/>
          <p:nvPr/>
        </p:nvSpPr>
        <p:spPr>
          <a:xfrm>
            <a:off x="6903720" y="2240280"/>
            <a:ext cx="4636008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</p:sp>
      <p:sp>
        <p:nvSpPr>
          <p:cNvPr id="6" name="code-window-dot"/>
          <p:cNvSpPr/>
          <p:nvPr/>
        </p:nvSpPr>
        <p:spPr>
          <a:xfrm>
            <a:off x="7104888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7" name="code-window-dot"/>
          <p:cNvSpPr/>
          <p:nvPr/>
        </p:nvSpPr>
        <p:spPr>
          <a:xfrm>
            <a:off x="7278624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8" name="code-window-dot"/>
          <p:cNvSpPr/>
          <p:nvPr/>
        </p:nvSpPr>
        <p:spPr>
          <a:xfrm>
            <a:off x="7452360" y="2386584"/>
            <a:ext cx="100584" cy="100584"/>
          </a:xfrm>
          <a:prstGeom prst="ellipse">
            <a:avLst/>
          </a:prstGeom>
          <a:solidFill>
            <a:srgbClr val="4A4844"/>
          </a:solidFill>
          <a:ln/>
        </p:spPr>
      </p:sp>
      <p:sp>
        <p:nvSpPr>
          <p:cNvPr id="9" name="code-window-label"/>
          <p:cNvSpPr txBox="1"/>
          <p:nvPr/>
        </p:nvSpPr>
        <p:spPr>
          <a:xfrm>
            <a:off x="7726680" y="233172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A09D96"/>
                </a:solidFill>
              </a:rPr>
              <a:t>3단계 결과 (보고서 값)</a:t>
            </a:r>
            <a:endParaRPr lang="en-US" sz="1100" dirty="0"/>
          </a:p>
        </p:txBody>
      </p:sp>
      <p:sp>
        <p:nvSpPr>
          <p:cNvPr id="10" name="code-window-text"/>
          <p:cNvSpPr txBox="1"/>
          <p:nvPr/>
        </p:nvSpPr>
        <p:spPr>
          <a:xfrm>
            <a:off x="7159752" y="2679192"/>
            <a:ext cx="4178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test_text.py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[dim=768] 질의1 CO2 문장 0.717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D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[dim=128] 질의1 CO2 문장 0.785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D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10단계 중 6개 통과, 4개는 원인을 남기고 미통과</a:t>
            </a:r>
            <a:endParaRPr lang="en-US" sz="32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977353"/>
                <a:gridCol w="3630168"/>
                <a:gridCol w="4747143"/>
                <a:gridCol w="153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무엇</a:t>
                      </a:r>
                      <a:endParaRPr lang="en-US" sz="11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핵심 결과</a:t>
                      </a:r>
                      <a:endParaRPr lang="en-US" sz="11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1·2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환경, 패키지·모델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JetPack 7.2.1, torch 2.14.1+cu132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한국어 텍스트 검색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768·256·128차원 모두 정답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글로 사진 찾기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1·2차 5/6 → 3차 6/6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글로 소리 찾기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1차 4/6 → 2차 6/6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성능 측정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텍스트 154ms, 전체 3166ms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도메인 미세조정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점수 상승, 보드 일반검색 5/6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미통과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웹캠 물체 검색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기준 6개 중 5개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미통과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사람 동작 인식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행동 패턴 4/12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미통과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카메라 2대 접근 감지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알람 시나리오 5개 모두 3/3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미통과</a:t>
                      </a:r>
                      <a:endParaRPr lang="en-US" sz="14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실습 원칙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8GB를 다른 서비스와 나눠 쓰기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RULES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같은 보드에서 꺼지면 안 되는 서비스가 돌았다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메모리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MemoryMax 2500M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~/practice.sh로만 실행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available 3GB 미만이면 안 켬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4629912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학습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학습은 맥에서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보드는 실행만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모델 파일만 scp로 옮김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336280" y="1810512"/>
            <a:ext cx="2929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미통과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기준은 그대로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1차 기록은 남기고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원인을 고쳐 2차·3차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649224" y="4096512"/>
            <a:ext cx="10890504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보드 A에는 공기 측정 수집기와 추론 서비스(약 1.5GB)가 11/05까지 돌아야 했습니다.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실습 앱 때문에 그 서비스가 꺼진 적은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한 번도 없었습니다.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임베딩 검색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3~6단계: 글 · 사진 · 소리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벡터를 128차원까지 잘라도 같은 문서를 찾았다</a:t>
            </a:r>
            <a:endParaRPr lang="en-US" sz="32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1555786"/>
                <a:gridCol w="3889466"/>
                <a:gridCol w="3889466"/>
                <a:gridCol w="1555786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차원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질의1 "졸리고 머리가 맑지 않아요"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질의2 "교실이 너무 더워요"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지연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768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CO2 문장 0.717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에어컨 문장 0.725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154ms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128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CO2 문장 0.785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에어컨 문장 0.810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153ms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649224" y="3014472"/>
            <a:ext cx="10890504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EmbeddingGemma 2는 앞쪽 숫자에 중요한 뜻이 먼저 담기게 학습되어 있습니다(Matryoshka).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768 → 128로 6배 줄여도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1위가 바뀌지 않았습니다.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4 ·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미통과를 고친 방법: 기준이 아니라 자료를 바꿨다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53309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4782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4단계 · 글로 사진 찾기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5/6 → 6/6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1·2차: 사진 한 장이 다른 질의에 밀림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3차: 사진 구성만 다시 찍음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질문 · 정답 · 코드는 그대로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08776" y="1581912"/>
            <a:ext cx="53309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6483096" y="1810512"/>
            <a:ext cx="4782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5단계 · 글로 소리 찾기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4/6 → 6/6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1차: '목소리'가 잡음에 0.008 차이로 밀림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2차: 합성 음성 → 실제 목소리(C920 마이크)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질문 · 정답 · 코드는 그대로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사진이 들어가면 지연이 15배로 늘었다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1039672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10396728" y="384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보드 A 실측</a:t>
            </a:r>
            <a:endParaRPr lang="en-US" sz="1200" dirty="0"/>
          </a:p>
        </p:txBody>
      </p:sp>
      <p:graphicFrame>
        <p:nvGraphicFramePr>
          <p:cNvPr id="6" name="chart" descr=""/>
          <p:cNvGraphicFramePr/>
          <p:nvPr/>
        </p:nvGraphicFramePr>
        <p:xfrm>
          <a:off x="649224" y="1581912"/>
          <a:ext cx="10890504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ode-inline"/>
          <p:cNvSpPr/>
          <p:nvPr/>
        </p:nvSpPr>
        <p:spPr>
          <a:xfrm>
            <a:off x="649224" y="5102352"/>
            <a:ext cx="10890504" cy="577088"/>
          </a:xfrm>
          <a:prstGeom prst="roundRect">
            <a:avLst>
              <a:gd name="adj" fmla="val 19014"/>
            </a:avLst>
          </a:prstGeom>
          <a:solidFill>
            <a:schemeClr val="bg2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877824" y="5102352"/>
            <a:ext cx="1043330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도는 중 available 최저 1.7GB — 멈춤 없음, 센서 서비스 매번 ok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미세조정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7단계: 강의실 질의-문서 쌍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도메인 점수는 올랐지만 일반 검색 하나가 뒤집혔다</a:t>
            </a:r>
            <a:endParaRPr 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3350924"/>
                <a:gridCol w="2094328"/>
                <a:gridCol w="2094328"/>
                <a:gridCol w="3350924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768차원, 보드 A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기준 모델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미세조정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판정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accuracy@1 (질문 60개)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0.700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0.717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상승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ndcg@10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0.846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0.858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상승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3단계 문제 (6칸)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6/6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5/6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 128차원 0.001 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649224" y="3400552"/>
            <a:ext cx="10890504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같은 모델이 맥에서는 6/6, 보드에서는 5/6이었습니다. 판정은 실제로 돌릴 보드 기준으로 했습니다.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데이터는 원문 제공 데이터를 구할 수 없어 원문 방법대로 직접 만들었습니다(학습 282, 평가 60 잠금).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웹캠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8 · 9단계: 물체와 사람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웹캠에서 잘라 낸 물체를 글로 다시 찾는다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10561320" y="384048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10561320" y="3840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실제 화면</a:t>
            </a:r>
            <a:endParaRPr lang="en-US" sz="1200" dirty="0"/>
          </a:p>
        </p:txBody>
      </p:sp>
      <p:pic>
        <p:nvPicPr>
          <p:cNvPr id="6" name="screenshot" descr="/tmp/ccp-1354-6avc2cobk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581912"/>
            <a:ext cx="10890504" cy="3116937"/>
          </a:xfrm>
          <a:prstGeom prst="rect">
            <a:avLst/>
          </a:prstGeom>
        </p:spPr>
      </p:pic>
      <p:sp>
        <p:nvSpPr>
          <p:cNvPr id="7" name="screenshot-frame"/>
          <p:cNvSpPr/>
          <p:nvPr/>
        </p:nvSpPr>
        <p:spPr>
          <a:xfrm>
            <a:off x="649224" y="1581912"/>
            <a:ext cx="10890504" cy="3116937"/>
          </a:xfrm>
          <a:prstGeom prst="rect">
            <a:avLst/>
          </a:prstGeom>
          <a:ln w="9525">
            <a:solidFill>
              <a:srgbClr val="E6DFD8"/>
            </a:solidFill>
            <a:prstDash val="solid"/>
          </a:ln>
        </p:spPr>
      </p:sp>
      <p:sp>
        <p:nvSpPr>
          <p:cNvPr id="8" name="code-inline"/>
          <p:cNvSpPr/>
          <p:nvPr/>
        </p:nvSpPr>
        <p:spPr>
          <a:xfrm>
            <a:off x="649224" y="4927449"/>
            <a:ext cx="10890504" cy="559308"/>
          </a:xfrm>
          <a:prstGeom prst="roundRect">
            <a:avLst>
              <a:gd name="adj" fmla="val 19619"/>
            </a:avLst>
          </a:prstGeom>
          <a:solidFill>
            <a:schemeClr val="bg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77824" y="4927449"/>
            <a:ext cx="10433304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YOLO가 박스 → 크롭을 EmbeddingGemma 2로 임베딩 → 글로 검색 (12.8 fps, 699 ms/개)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세 모드 모두 12fps, 전지 포장 실물이 없어 한 줄을 못 채웠다</a:t>
            </a:r>
            <a:endParaRPr lang="en-US" sz="32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1873635"/>
                <a:gridCol w="3513066"/>
                <a:gridCol w="1522329"/>
                <a:gridCol w="1873635"/>
                <a:gridCol w="2107839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모드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무엇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fps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임베딩 ms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최저 available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yolo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COCO 80개 이름 그대로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12.9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691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1206 MB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relabel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크롭을 글 후보와 비교해 이름 고침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12.4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677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1239 MB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yoloe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검출기가 글로 물체를 정함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12.3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653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1620 MB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649224" y="3400552"/>
            <a:ext cx="1089050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COCO 밖 물체가 relabel · yoloe에서 맞는 이름이 됨 → 충족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미충족: 원통형 전지 포장을 준비하지 못해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표 한 줄이 "물체 없음"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relabel에서는 1등과 0.03 이상 차이 날 때만 이름을 바꾸는 규칙이 가장 좋았습니다.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규칙으로 못 적는 동작은 작은 GRU가 알아봤다</a:t>
            </a:r>
            <a:endParaRPr lang="en-US" sz="32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3826393"/>
                <a:gridCol w="5003745"/>
                <a:gridCol w="2060366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판정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검출 fps (YOLO11n-pose)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12.4 ~ 15.7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손 흔들기 (다수결 + 좌우 방향 전환)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2차에서 3번 중 2번 이상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박수 · 팔짱 (맥에서 GRU 학습)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동작 모델이 알아봄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행동 모델 (지나감 · 힐끗 · 관심)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3차: 9번 중 7번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9-5 행동 패턴 (규칙)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12번 중 4번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 미통과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처음 본 사람으로 평가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참여자 1명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  못 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카메라 2대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D96"/>
                </a:solidFill>
              </a:rPr>
              <a:t>10단계: 특정 물체 접근 감지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앉으면 발목 0.64m 오차, 두 카메라 어깨는 0.14m</a:t>
            </a:r>
            <a:endParaRPr lang="en-US" sz="3200" dirty="0"/>
          </a:p>
        </p:txBody>
      </p:sp>
      <p:sp>
        <p:nvSpPr>
          <p:cNvPr id="4" name="badge"/>
          <p:cNvSpPr/>
          <p:nvPr/>
        </p:nvSpPr>
        <p:spPr>
          <a:xfrm>
            <a:off x="1039672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8E0D2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10396728" y="384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보드 B 실측</a:t>
            </a:r>
            <a:endParaRPr lang="en-US" sz="1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3826393"/>
                <a:gridCol w="2354704"/>
                <a:gridCol w="2354704"/>
                <a:gridCol w="2354704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실제 거리 · 자세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발목 1대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어깨 2대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보완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0.5m 서 있음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0.56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1.0m 서 있음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1.18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1.06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2.0m 서 있음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2.05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2.14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2.11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0.81m 책상에 앉음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1.45 (ID 끊김)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0.67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한 카메라에만 보임 (1.81m)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없음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0.55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649224" y="4172712"/>
            <a:ext cx="10890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카메라 시간 차 1~20ms (기준 80ms), 23~27 fps, 앱 RAM 약 1.07GB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알람 시나리오 5개는 모두 3번 중 3번</a:t>
            </a:r>
            <a:endParaRPr lang="en-US" sz="32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5003745"/>
                <a:gridCol w="4120731"/>
                <a:gridCol w="176602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시나리오 (3회씩)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기대 결과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맞은 횟수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3m에서 타겟으로 걸어옴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접근 시작 → 근접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0.5m에서 3m 밖으로 나감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이탈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1.0m 경계에서 10초 서 있음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알람 1번만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타겟 2m 옆을 지나감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근접 알람 없음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타겟 옆 책상에 앉음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근접 + 자세 앉음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llout-coral"/>
          <p:cNvSpPr/>
          <p:nvPr/>
        </p:nvSpPr>
        <p:spPr>
          <a:xfrm>
            <a:off x="649224" y="4172712"/>
            <a:ext cx="10890504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6" name="text"/>
          <p:cNvSpPr txBox="1"/>
          <p:nvPr/>
        </p:nvSpPr>
        <p:spPr>
          <a:xfrm>
            <a:off x="1014984" y="4172712"/>
            <a:ext cx="10158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타겟은 글("brown cardboard box")로 찾았다: YOLOE 후보 → EmbeddingGemma 2 재확인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STEP 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미통과 원인은 계산이 아니라 배치였다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9224" y="1581912"/>
            <a:ext cx="347776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923544" y="181051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10-2 재투영 오차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3.78 / 3.22px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기준 3px, 세 번 모두 초과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위치 · 검증점은 3cm로 충족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기준점을 물건으로 표시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355592" y="1581912"/>
            <a:ext cx="347776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4629912" y="181051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타겟 위치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0.31m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우리 기준 30cm를 1cm 초과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카메라 높이 1.4m (원문 2.2m+)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3D3D3A"/>
                </a:solidFill>
              </a:rPr>
              <a:t>두 시선 23도 (원문 60~90도)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8061960" y="1581912"/>
            <a:ext cx="3477768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8336280" y="181051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10-7 표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AF9F5"/>
                </a:solidFill>
              </a:rPr>
              <a:t>1줄 못 함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"책상 뒤에 서 있음"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A09D96"/>
                </a:solidFill>
              </a:rPr>
              <a:t>책상이 벽에 붙어 설 자리 없음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649224" y="4828032"/>
            <a:ext cx="10890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실습 중 cam0이 약 6도 돌아간 것을 발견해 맞추고, 그 사이 측정 1회는 무효로 적었습니다.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정리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649224" y="1581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검색</a:t>
            </a:r>
            <a:endParaRPr lang="en-US" sz="2000" dirty="0"/>
          </a:p>
        </p:txBody>
      </p:sp>
      <p:sp>
        <p:nvSpPr>
          <p:cNvPr id="4" name="text"/>
          <p:cNvSpPr txBox="1"/>
          <p:nvPr/>
        </p:nvSpPr>
        <p:spPr>
          <a:xfrm>
            <a:off x="2935224" y="1581912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128차원까지 잘라도 정답 (3단계)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649224" y="2203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미통과 처리</a:t>
            </a:r>
            <a:endParaRPr lang="en-US" sz="2000" dirty="0"/>
          </a:p>
        </p:txBody>
      </p:sp>
      <p:sp>
        <p:nvSpPr>
          <p:cNvPr id="6" name="text"/>
          <p:cNvSpPr txBox="1"/>
          <p:nvPr/>
        </p:nvSpPr>
        <p:spPr>
          <a:xfrm>
            <a:off x="2935224" y="2203704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기준은 그대로, 자료 · 배치만 바꿔 다시</a:t>
            </a:r>
            <a:endParaRPr lang="en-US" sz="2000" dirty="0"/>
          </a:p>
        </p:txBody>
      </p:sp>
      <p:sp>
        <p:nvSpPr>
          <p:cNvPr id="7" name="text"/>
          <p:cNvSpPr txBox="1"/>
          <p:nvPr/>
        </p:nvSpPr>
        <p:spPr>
          <a:xfrm>
            <a:off x="649224" y="2825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메모리</a:t>
            </a:r>
            <a:endParaRPr lang="en-US" sz="2000" dirty="0"/>
          </a:p>
        </p:txBody>
      </p:sp>
      <p:sp>
        <p:nvSpPr>
          <p:cNvPr id="8" name="text"/>
          <p:cNvSpPr txBox="1"/>
          <p:nvPr/>
        </p:nvSpPr>
        <p:spPr>
          <a:xfrm>
            <a:off x="2935224" y="2825496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8GB 공유, 센서 서비스 한 번도 안 꺼짐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649224" y="3447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웹캠</a:t>
            </a:r>
            <a:endParaRPr lang="en-US" sz="2000" dirty="0"/>
          </a:p>
        </p:txBody>
      </p:sp>
      <p:sp>
        <p:nvSpPr>
          <p:cNvPr id="10" name="text"/>
          <p:cNvSpPr txBox="1"/>
          <p:nvPr/>
        </p:nvSpPr>
        <p:spPr>
          <a:xfrm>
            <a:off x="2935224" y="3447288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8단계 12fps, 9단계 GRU로 박수 · 팔짱</a:t>
            </a:r>
            <a:endParaRPr lang="en-US" sz="2000" dirty="0"/>
          </a:p>
        </p:txBody>
      </p:sp>
      <p:sp>
        <p:nvSpPr>
          <p:cNvPr id="11" name="text"/>
          <p:cNvSpPr txBox="1"/>
          <p:nvPr/>
        </p:nvSpPr>
        <p:spPr>
          <a:xfrm>
            <a:off x="649224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카메라 2대</a:t>
            </a:r>
            <a:endParaRPr lang="en-US" sz="2000" dirty="0"/>
          </a:p>
        </p:txBody>
      </p:sp>
      <p:sp>
        <p:nvSpPr>
          <p:cNvPr id="12" name="text"/>
          <p:cNvSpPr txBox="1"/>
          <p:nvPr/>
        </p:nvSpPr>
        <p:spPr>
          <a:xfrm>
            <a:off x="2935224" y="4069080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앉아도 0.14m, 알람 5개 모두 3/3</a:t>
            </a:r>
            <a:endParaRPr lang="en-US" sz="2000" dirty="0"/>
          </a:p>
        </p:txBody>
      </p:sp>
      <p:sp>
        <p:nvSpPr>
          <p:cNvPr id="13" name="text"/>
          <p:cNvSpPr txBox="1"/>
          <p:nvPr/>
        </p:nvSpPr>
        <p:spPr>
          <a:xfrm>
            <a:off x="649224" y="4690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다시 한다면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2935224" y="4690872"/>
            <a:ext cx="8604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FAF9F5"/>
                </a:solidFill>
              </a:rPr>
              <a:t>카메라 2.2m · 60도 이상, 기준점은 테이프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10-2 위치 보정 세 번의 기록</a:t>
            </a:r>
            <a:endParaRPr lang="en-US" sz="32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2124976"/>
                <a:gridCol w="3453087"/>
                <a:gridCol w="2921843"/>
                <a:gridCol w="239059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시도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배치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재투영 cam0 / cam1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검증점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책상 크기 (75×33cm)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5.98 / 5.67px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2.3 · 1.0cm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2차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전신 배치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3.33 / 2.19px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6.2 · 1.0cm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3차 (최종)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3m까지, 높이 1.4m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3.78 / 3.22px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3.1 · 3.0cm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649224" y="3400552"/>
            <a:ext cx="10890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목표: 재투영 3px 이하, 위치 20cm 이내, 검증점 10cm 이내. 세 번 모두 위치 · 검증점은 충족.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chemeClr val="accent3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676656"/>
            <a:ext cx="10890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10-8 움직이는 타겟: 충돌 예상 시간으로 먼저 알림</a:t>
            </a:r>
            <a:endParaRPr lang="en-US" sz="32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1581912"/>
          <a:ext cx="10890504" cy="914400"/>
        </p:xfrm>
        <a:graphic>
          <a:graphicData uri="http://schemas.openxmlformats.org/drawingml/2006/table">
            <a:tbl>
              <a:tblPr/>
              <a:tblGrid>
                <a:gridCol w="2785943"/>
                <a:gridCol w="2785943"/>
                <a:gridCol w="3039210"/>
                <a:gridCol w="227940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속도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충돌 알람 때 거리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근접보다 먼저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추정 속도</a:t>
                      </a:r>
                      <a:endParaRPr lang="en-US" sz="13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C6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천천히 0.5m/s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1.9m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3초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1.0m/s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보통 1m/s (--ttc 3.0)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2.4 · 2.2m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1초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 · 0.7m/s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빠르게 1.5m/s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1.5m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몇 프레임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0.8m/s</a:t>
                      </a:r>
                      <a:endParaRPr lang="en-US" sz="1600" dirty="0"/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649224" y="3400552"/>
            <a:ext cx="108905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빠를수록 칼만 필터가 속도를 늦게 따라잡아 미리 알리는 시간이 줄었습니다.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6692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m Coral">
  <a:themeElements>
    <a:clrScheme name="Cream Coral">
      <a:dk1>
        <a:srgbClr val="141413"/>
      </a:dk1>
      <a:lt1>
        <a:srgbClr val="FAF9F5"/>
      </a:lt1>
      <a:dk2>
        <a:srgbClr val="181715"/>
      </a:dk2>
      <a:lt2>
        <a:srgbClr val="EFE9DE"/>
      </a:lt2>
      <a:accent1>
        <a:srgbClr val="CC785C"/>
      </a:accent1>
      <a:accent2>
        <a:srgbClr val="A9583E"/>
      </a:accent2>
      <a:accent3>
        <a:srgbClr val="6C6A64"/>
      </a:accent3>
      <a:accent4>
        <a:srgbClr val="E8A55A"/>
      </a:accent4>
      <a:accent5>
        <a:srgbClr val="5DB8A6"/>
      </a:accent5>
      <a:accent6>
        <a:srgbClr val="C64545"/>
      </a:accent6>
      <a:hlink>
        <a:srgbClr val="A9583E"/>
      </a:hlink>
      <a:folHlink>
        <a:srgbClr val="6C6A64"/>
      </a:folHlink>
    </a:clrScheme>
    <a:fontScheme name="Cream Coral">
      <a:majorFont>
        <a:latin typeface="Pretendard"/>
        <a:ea typeface="Pretendard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SemiBold"/>
        <a:ea typeface="Pretendard SemiBold"/>
        <a:cs typeface=""/>
        <a:font script="Jpan" typeface="游ゴシック"/>
        <a:font script="Hang" typeface="Pretendard SemiBol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Jetson 8GB에서 EmbeddingGemma 2 실습 10단계</dc:title>
  <dc:subject>PptxGenJS Presentation</dc:subject>
  <dc:creator>팀5 이재웅</dc:creator>
  <cp:lastModifiedBy>팀5 이재웅</cp:lastModifiedBy>
  <cp:revision>1</cp:revision>
  <dcterms:created xsi:type="dcterms:W3CDTF">2026-10-28T06:56:27Z</dcterms:created>
  <dcterms:modified xsi:type="dcterms:W3CDTF">2026-10-28T06:56:27Z</dcterms:modified>
</cp:coreProperties>
</file>